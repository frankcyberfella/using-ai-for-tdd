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010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Welcome everyone to the session.</a:t>
            </a:r>
          </a:p>
          <a:p>
            <a:r>
              <a:t>• Set expectations upfront: this is NOT an AI sales pitch or abstract agile lecture.</a:t>
            </a:r>
          </a:p>
          <a:p>
            <a:r>
              <a:t>• Core premise: The AI is a fast junior coder with zero discipline; the engineer is the driver. The compiler and the test runner are the only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Large Language Models generate statistically probable text, not verified logic. They do not 'understand' domain rules.</a:t>
            </a:r>
          </a:p>
          <a:p>
            <a:r>
              <a:t>• Open-ended prompts cause the model to guess conventions and optimize for what looks right to a human.</a:t>
            </a:r>
          </a:p>
          <a:p>
            <a:r>
              <a:t>• Emphasize the 'Downstream Tax': keystrokes are cheap, but debugging AI hallucinations inflates integration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Single most critical slide in the deck. Ask how many engineers have done this.</a:t>
            </a:r>
          </a:p>
          <a:p>
            <a:r>
              <a:t>• Explain confirmation bias in LLMs: when an LLM writes both, it tailors assertions to match its hallucinations.</a:t>
            </a:r>
          </a:p>
          <a:p>
            <a:r>
              <a:t>• Golden rule: Never allow the model to write test and implementation in the same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Step through the loop: notice that human engineers strictly own Step 0.</a:t>
            </a:r>
          </a:p>
          <a:p>
            <a:r>
              <a:t>• TDD acts as the deterministic cage around the non-deterministic engine.</a:t>
            </a:r>
          </a:p>
          <a:p>
            <a:r>
              <a:t>• Without the harness, AI usage collapses into chaotic prompt-and-pray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Detail the 'Two-Turn Rule': prevents developers from falling into endless prompt-tweaking spirals.</a:t>
            </a:r>
          </a:p>
          <a:p>
            <a:r>
              <a:t>• Emphasize error piping: models parse structured logs and compiler errors far better than vague human summaries.</a:t>
            </a:r>
          </a:p>
          <a:p>
            <a:r>
              <a:t>• Reiterate that the runner is the final 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Direct participants to open their IDEs to Exercise 1.</a:t>
            </a:r>
          </a:p>
          <a:p>
            <a:r>
              <a:rPr dirty="0"/>
              <a:t>• Remind them of the adversarial QA prompt template.</a:t>
            </a:r>
          </a:p>
          <a:p>
            <a:r>
              <a:rPr dirty="0"/>
              <a:t>• Emphasize that their primary job in this exercise is auditing and pruning bad AI tests.</a:t>
            </a:r>
          </a:p>
          <a:p>
            <a:r>
              <a:rPr dirty="0"/>
              <a:t>• Ensure everyone has a failing test runner before moving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Use this slide to debrief Exercise 1.</a:t>
            </a:r>
          </a:p>
          <a:p>
            <a:r>
              <a:t>• Point out real examples generated by participants during the exercise.</a:t>
            </a:r>
          </a:p>
          <a:p>
            <a:r>
              <a:t>• Emphasize: if you can't spot a broken test in Red phase, you can't trust AI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Ensure everyone runs Step 1 first to see the bloat (regex engines, unneeded classes, custom exceptions).</a:t>
            </a:r>
          </a:p>
          <a:p>
            <a:r>
              <a:t>• Force them to discard that code via git.</a:t>
            </a:r>
          </a:p>
          <a:p>
            <a:r>
              <a:t>• Guide them through piping exact test failures (e.g., sequential digits) without conversational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Highlight the contrast: conversation adds ambiguity; stack traces add precision.</a:t>
            </a:r>
          </a:p>
          <a:p>
            <a:r>
              <a:t>• LLMs excel at matching stack traces directly to offending lines of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Emphasize the locked-in test suite as the regression shield.</a:t>
            </a:r>
          </a:p>
          <a:p>
            <a:r>
              <a:t>• Warn against prompts like 'Clean this up with SOLID principles' which cause widespread regressions.</a:t>
            </a:r>
          </a:p>
          <a:p>
            <a:r>
              <a:t>• One structural change at a time, test runner executed after each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Close the workshop by connecting back to team culture and code reviews.</a:t>
            </a:r>
          </a:p>
          <a:p>
            <a:r>
              <a:t>• Keystroke speed is not the bottleneck in software engineering—correctness and maintainability are.</a:t>
            </a:r>
          </a:p>
          <a:p>
            <a:r>
              <a:t>• Open the floor for final Q&amp;A and wrap-up.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4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9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3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09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32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64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5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2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26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96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5157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67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35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887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48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795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070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Constraining the Non-Deterministic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t>Pragmatic TDD with Generative AI</a:t>
            </a:r>
          </a:p>
          <a:p>
            <a:endParaRPr/>
          </a:p>
          <a:p>
            <a:r>
              <a:t>Focus: Engineering Discipline, Test Harnesses, and Practical Craftsmanship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Conflict: Determinism vs.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LLM Engine: Non-deterministic, statistical token prediction, plausible-sounding, unconstrained.</a:t>
            </a:r>
          </a:p>
          <a:p>
            <a:pPr>
              <a:defRPr sz="1800"/>
            </a:pPr>
            <a:r>
              <a:t>Software System: Deterministic, binary (Pass/Fail), intolerant of subtle errors, strict contract logic.</a:t>
            </a:r>
          </a:p>
          <a:p>
            <a:pPr>
              <a:defRPr sz="1800"/>
            </a:pPr>
            <a:r>
              <a:t>The Trap: Asking an LLM to generate code without strict constraints yields syntactically valid fiction.</a:t>
            </a:r>
          </a:p>
          <a:p>
            <a:pPr>
              <a:defRPr sz="1800"/>
            </a:pPr>
            <a:r>
              <a:t>The Downstream Tax: Debugging 60 lines of subtly flawed AI code takes far longer than writing 15 clean lines from scratch.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Fatal Anti-Pattern: Dual-Generation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The Mirage: Asking AI to 'write the code and the unit tests' in a single prompt.</a:t>
            </a:r>
          </a:p>
          <a:p>
            <a:pPr>
              <a:defRPr sz="1800"/>
            </a:pPr>
            <a:r>
              <a:t>Self-Fulfilling Tests: The generated tests pass because they were written to validate the model's own mistakes.</a:t>
            </a:r>
          </a:p>
          <a:p>
            <a:pPr>
              <a:defRPr sz="1800"/>
            </a:pPr>
            <a:r>
              <a:t>Assumption Testing: Tests do not validate business requirements; they validate the model's internal assumptions.</a:t>
            </a:r>
          </a:p>
          <a:p>
            <a:pPr>
              <a:defRPr sz="1800"/>
            </a:pPr>
            <a:r>
              <a:t>The Outcome: Off-by-one errors, missing null-checks, and inverted logic are codified as 'passing'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The TDD Harness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Step 0: Contract Definition (Human-led) — Define explicit interfaces, method signatures, and invariants.</a:t>
            </a:r>
          </a:p>
          <a:p>
            <a:pPr>
              <a:defRPr sz="1800"/>
            </a:pPr>
            <a:r>
              <a:t>Step 1: RED Phase (AI-Assisted) — Prompt model for boundary cases and edge conditions; verify suite fails.</a:t>
            </a:r>
          </a:p>
          <a:p>
            <a:pPr>
              <a:defRPr sz="1800"/>
            </a:pPr>
            <a:r>
              <a:t>Step 2: GREEN Phase (Constrained Generation) — Force model to produce minimal code to pass; pipe raw errors.</a:t>
            </a:r>
          </a:p>
          <a:p>
            <a:pPr>
              <a:defRPr sz="1800"/>
            </a:pPr>
            <a:r>
              <a:t>Step 3: REFACTOR Phase (Safety Net) — Prompt atomic modernization while green tests guarantee zero regression.</a:t>
            </a:r>
          </a:p>
          <a:p>
            <a:pPr>
              <a:defRPr sz="1800"/>
            </a:pPr>
            <a:r>
              <a:t>The Rule: The engineer directs; the test runner enforces truth; the AI supplies keystrokes.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of Engagement: Working with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1. Human Owns Intent: Never let an AI dictate architecture, boundaries, or interface contracts.</a:t>
            </a:r>
          </a:p>
          <a:p>
            <a:pPr>
              <a:defRPr sz="1800"/>
            </a:pPr>
            <a:r>
              <a:t>2. Red Means Red: If a newly written test passes before production code is introduced, stop. It's invalid.</a:t>
            </a:r>
          </a:p>
          <a:p>
            <a:pPr>
              <a:defRPr sz="1800"/>
            </a:pPr>
            <a:r>
              <a:t>3. Pipe Raw Errors: Never paraphrase errors. Feed raw stack traces and compiler logs directly to the model.</a:t>
            </a:r>
          </a:p>
          <a:p>
            <a:pPr>
              <a:defRPr sz="1800"/>
            </a:pPr>
            <a:r>
              <a:t>4. The Two-Turn Rule: If the model fails twice on the same error, stop prompting. Take over and fix it manually.</a:t>
            </a:r>
          </a:p>
          <a:p>
            <a:pPr>
              <a:defRPr sz="1800"/>
            </a:pPr>
            <a:r>
              <a:t>5. Compiler/Runner Sovereignty: Polite explanations in chat mean nothing. The test runner is the sole authority.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1: The Red Phase — Boundary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Domain Context: Tiered E-Commerce Discount Calculator (IDiscountCalculator).</a:t>
            </a:r>
          </a:p>
          <a:p>
            <a:pPr>
              <a:defRPr sz="1800"/>
            </a:pPr>
            <a:r>
              <a:t>Step 1 (Human Foundation): Inspect provided interface and verify initial baseline test failure.</a:t>
            </a:r>
          </a:p>
          <a:p>
            <a:pPr>
              <a:defRPr sz="1800"/>
            </a:pPr>
            <a:r>
              <a:t>Step 2 (Prompting for Edges): Prompt AI as an adversarial QA engineer to discover edge cases.</a:t>
            </a:r>
          </a:p>
          <a:p>
            <a:pPr>
              <a:defRPr sz="1800"/>
            </a:pPr>
            <a:r>
              <a:t>Step 3 (The Code Audit): Inspect generated tests; discard bogus, tautological, or state-peeking assertions.</a:t>
            </a:r>
          </a:p>
          <a:p>
            <a:pPr>
              <a:defRPr sz="1800"/>
            </a:pPr>
            <a:r>
              <a:t>Step 4 (Execution): Run the test runner and verify 100% RED status.</a:t>
            </a:r>
          </a:p>
          <a:p>
            <a:pPr>
              <a:defRPr sz="1800"/>
            </a:pPr>
            <a:r>
              <a:t>Reference Solution: solutions/&lt;language&gt;/exercise1/ has a completed implementation, commented per test, if you get stuck.</a:t>
            </a:r>
          </a:p>
          <a:p>
            <a:pPr>
              <a:defRPr sz="1800"/>
            </a:pPr>
            <a:r>
              <a:t>Target Duration: 45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Auditing AI-Generated Tests: What to Cut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The Tautology: Assertions comparing calculated results against themselves or re-implementing logic inside the test.</a:t>
            </a:r>
          </a:p>
          <a:p>
            <a:pPr>
              <a:defRPr sz="1800"/>
            </a:pPr>
            <a:r>
              <a:t>The State Peeker: Tests that attempt to assert private variables, reflection hacks, or unexposed internal fields.</a:t>
            </a:r>
          </a:p>
          <a:p>
            <a:pPr>
              <a:defRPr sz="1800"/>
            </a:pPr>
            <a:r>
              <a:t>The Spec Drift: Contradicting domain requirements (e.g., asserting a percentage discount for a flat coupon).</a:t>
            </a:r>
          </a:p>
          <a:p>
            <a:pPr>
              <a:defRPr sz="1800"/>
            </a:pPr>
            <a:r>
              <a:t>The Fragile Mock: Mocking framework types or internal helpers that are unnecessary for pure domain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2: The Green Phase — Minimalist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Domain Context: User Password Policy Validator (IPasswordValidator).</a:t>
            </a:r>
          </a:p>
          <a:p>
            <a:pPr>
              <a:defRPr sz="1800"/>
            </a:pPr>
            <a:r>
              <a:t>Step 1 (The Trap): Run an unconstrained prompt ('implement validator') and inspect the resulting bloat.</a:t>
            </a:r>
          </a:p>
          <a:p>
            <a:pPr>
              <a:defRPr sz="1800"/>
            </a:pPr>
            <a:r>
              <a:t>Step 2 (Reset &amp; Constrain): Prompt with strict constraints: 'Write the MINIMUM code required to pass ONLY these tests.'</a:t>
            </a:r>
          </a:p>
          <a:p>
            <a:pPr>
              <a:defRPr sz="1800"/>
            </a:pPr>
            <a:r>
              <a:t>Step 3 (Error Piping): Copy/paste raw test runner failure outputs directly back into the model.</a:t>
            </a:r>
          </a:p>
          <a:p>
            <a:pPr>
              <a:defRPr sz="1800"/>
            </a:pPr>
            <a:r>
              <a:t>Step 4 (Verification): Reach 100% Green with clean, readable code and zero structural bloat.</a:t>
            </a:r>
          </a:p>
          <a:p>
            <a:pPr>
              <a:defRPr sz="1800"/>
            </a:pPr>
            <a:r>
              <a:t>Reference Solution: solutions/&lt;language&gt;/exercise2/ has a completed implementation, commented per test, if you get stuck.</a:t>
            </a:r>
          </a:p>
          <a:p>
            <a:pPr>
              <a:defRPr sz="1800"/>
            </a:pPr>
            <a:r>
              <a:t>Target Duration: 50 Minutes.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Error Piping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The Anti-Pattern (Conversational Prompting):</a:t>
            </a:r>
          </a:p>
          <a:p>
            <a:pPr>
              <a:defRPr sz="1800"/>
            </a:pPr>
            <a:r>
              <a:t>  • 'Hey, that didn't work. I think your regex is wrong because 123 gave true, maybe try a loop?'</a:t>
            </a:r>
          </a:p>
          <a:p>
            <a:pPr>
              <a:defRPr sz="1800"/>
            </a:pPr>
            <a:r>
              <a:t>The Disciplined Pattern (Raw Error Piping):</a:t>
            </a:r>
          </a:p>
          <a:p>
            <a:pPr>
              <a:defRPr sz="1800"/>
            </a:pPr>
            <a:r>
              <a:t>  • 'The code failed this test: PasswordValidatorTests.Validate_ContainsSequentialDigits_ReturnsFalse'</a:t>
            </a:r>
          </a:p>
          <a:p>
            <a:pPr>
              <a:defRPr sz="1800"/>
            </a:pPr>
            <a:r>
              <a:t>  • 'Expected: False | Actual: True'</a:t>
            </a:r>
          </a:p>
          <a:p>
            <a:pPr>
              <a:defRPr sz="1800"/>
            </a:pPr>
            <a:r>
              <a:t>  • 'Stack Trace: at PasswordValidator.Validate(String password) line 24'</a:t>
            </a:r>
          </a:p>
          <a:p>
            <a:pPr>
              <a:defRPr sz="1800"/>
            </a:pPr>
            <a:r>
              <a:t>  • 'Modify the code to satisfy this assertion without breaking existing tests.'</a:t>
            </a:r>
          </a:p>
          <a:p>
            <a:pPr>
              <a:defRPr sz="1800"/>
            </a:pPr>
            <a:r>
              <a:t>Why: Eliminates human bias, gives exact line numbers, and leverages model log parsing.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3: The Refactor Phase — The Safety Shield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Domain Context: Legacy 90-line Order Processor (OrderProcessor).</a:t>
            </a:r>
          </a:p>
          <a:p>
            <a:pPr>
              <a:defRPr sz="1800"/>
            </a:pPr>
            <a:r>
              <a:t>Step 1 (Verify Shield): Execute test suite to confirm a 100% Green baseline before touching code.</a:t>
            </a:r>
          </a:p>
          <a:p>
            <a:pPr>
              <a:defRPr sz="1800"/>
            </a:pPr>
            <a:r>
              <a:t>Step 2 (Atomic Refactoring): Prompt model for targeted refactoring passes (never blanket rewrites):</a:t>
            </a:r>
          </a:p>
          <a:p>
            <a:pPr>
              <a:defRPr sz="1800"/>
            </a:pPr>
            <a:r>
              <a:t>  • Pass 1: Replace nested conditionals with guard clauses.</a:t>
            </a:r>
          </a:p>
          <a:p>
            <a:pPr>
              <a:defRPr sz="1800"/>
            </a:pPr>
            <a:r>
              <a:t>  • Pass 2: Extract tax calculation into private helper.</a:t>
            </a:r>
          </a:p>
          <a:p>
            <a:pPr>
              <a:defRPr sz="1800"/>
            </a:pPr>
            <a:r>
              <a:t>  • Pass 3: Extract loyalty tier discount calculations.</a:t>
            </a:r>
          </a:p>
          <a:p>
            <a:pPr>
              <a:defRPr sz="1800"/>
            </a:pPr>
            <a:r>
              <a:t>Step 3 (Continuous Check): Run test suite after every atomic step. If red, revert immediately.</a:t>
            </a:r>
          </a:p>
          <a:p>
            <a:pPr>
              <a:defRPr sz="1800"/>
            </a:pPr>
            <a:r>
              <a:t>Reference Solution: solutions/&lt;language&gt;/exercise3/ has a completed refactor, commented per test, if you get stuck.</a:t>
            </a:r>
          </a:p>
          <a:p>
            <a:pPr>
              <a:defRPr sz="1800"/>
            </a:pPr>
            <a:r>
              <a:t>Target Duration: 40 Minutes.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Guardrails &amp; Team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Pull Request Standard: AI-generated code without automated tests proving boundary behavior is rejected.</a:t>
            </a:r>
          </a:p>
          <a:p>
            <a:pPr>
              <a:defRPr sz="1800"/>
            </a:pPr>
            <a:r>
              <a:t>Commit Granularity: Commit in atomic TDD steps (test: red boundary cases -&gt; feat: minimal green -&gt; refactor).</a:t>
            </a:r>
          </a:p>
          <a:p>
            <a:pPr>
              <a:defRPr sz="1800"/>
            </a:pPr>
            <a:r>
              <a:t>Zero Trust for Comments: LLM comments describe intent, not execution reality. Review the code, not the comments.</a:t>
            </a:r>
          </a:p>
          <a:p>
            <a:pPr>
              <a:defRPr sz="1800"/>
            </a:pPr>
            <a:r>
              <a:t>Human Ownership: 'The AI wrote it' is unacceptable in post-mortems. The engineer who merges owns every byte.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1523</Words>
  <Application>Microsoft Macintosh PowerPoint</Application>
  <PresentationFormat>Widescreen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Constraining the Non-Deterministic Engine</vt:lpstr>
      <vt:lpstr>The Core Conflict: Determinism vs. Probability</vt:lpstr>
      <vt:lpstr>The Fatal Anti-Pattern: Dual-Generation</vt:lpstr>
      <vt:lpstr>The Solution: The TDD Harness Pattern</vt:lpstr>
      <vt:lpstr>Rules of Engagement: Working with the Model</vt:lpstr>
      <vt:lpstr>Exercise 1: The Red Phase — Boundary Discovery</vt:lpstr>
      <vt:lpstr>Auditing AI-Generated Tests: What to Cut</vt:lpstr>
      <vt:lpstr>Exercise 2: The Green Phase — Minimalist Code</vt:lpstr>
      <vt:lpstr>The Error Piping Discipline</vt:lpstr>
      <vt:lpstr>Exercise 3: The Refactor Phase — The Safety Shield</vt:lpstr>
      <vt:lpstr>Production Guardrails &amp; Team Standards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Fella</cp:lastModifiedBy>
  <cp:revision>2</cp:revision>
  <dcterms:created xsi:type="dcterms:W3CDTF">2013-01-27T09:14:16Z</dcterms:created>
  <dcterms:modified xsi:type="dcterms:W3CDTF">2026-09-15T01:37:53Z</dcterms:modified>
  <cp:category/>
</cp:coreProperties>
</file>